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9e2969e5c_1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9e2969e5c_1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9e2969e5c_1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9e2969e5c_1_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e9e2969e5c_1_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9e2969e5c_1_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9e2969e5c_1_1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e9e2969e5c_1_1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9e2969e5c_1_1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9e2969e5c_1_1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e9e2969e5c_1_1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9e2969e5c_1_1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9e2969e5c_1_2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e9e2969e5c_1_2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9e2969e5c_1_2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e9e2969e5c_1_3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e9e2969e5c_1_3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e9e2969e5c_1_3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E1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5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5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5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5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5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5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5"/>
          <p:cNvSpPr/>
          <p:nvPr/>
        </p:nvSpPr>
        <p:spPr>
          <a:xfrm>
            <a:off x="3474720" y="1097280"/>
            <a:ext cx="5029200" cy="2926200"/>
          </a:xfrm>
          <a:prstGeom prst="ellipse">
            <a:avLst/>
          </a:prstGeom>
          <a:solidFill>
            <a:srgbClr val="00D4FF">
              <a:alpha val="706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950976" y="768096"/>
            <a:ext cx="292608" cy="292608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1024128" y="841248"/>
            <a:ext cx="146304" cy="146304"/>
          </a:xfrm>
          <a:prstGeom prst="ellipse">
            <a:avLst/>
          </a:prstGeom>
          <a:solidFill>
            <a:srgbClr val="00D4FF">
              <a:alpha val="4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068019" y="885139"/>
            <a:ext cx="58522" cy="58522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7662672" y="621792"/>
            <a:ext cx="219456" cy="219456"/>
          </a:xfrm>
          <a:prstGeom prst="ellipse">
            <a:avLst/>
          </a:prstGeom>
          <a:solidFill>
            <a:srgbClr val="00FFD0">
              <a:alpha val="14901"/>
            </a:srgbClr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717536" y="676656"/>
            <a:ext cx="109728" cy="109728"/>
          </a:xfrm>
          <a:prstGeom prst="ellipse">
            <a:avLst/>
          </a:prstGeom>
          <a:solidFill>
            <a:srgbClr val="00FFD0">
              <a:alpha val="40000"/>
            </a:srgbClr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7750454" y="709574"/>
            <a:ext cx="43891" cy="43891"/>
          </a:xfrm>
          <a:prstGeom prst="ellipse">
            <a:avLst/>
          </a:prstGeom>
          <a:solidFill>
            <a:srgbClr val="00FFD0"/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8247888" y="3675888"/>
            <a:ext cx="329184" cy="329184"/>
          </a:xfrm>
          <a:prstGeom prst="ellipse">
            <a:avLst/>
          </a:prstGeom>
          <a:solidFill>
            <a:srgbClr val="A855F7">
              <a:alpha val="14901"/>
            </a:srgbClr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8330184" y="3758184"/>
            <a:ext cx="164592" cy="164592"/>
          </a:xfrm>
          <a:prstGeom prst="ellipse">
            <a:avLst/>
          </a:prstGeom>
          <a:solidFill>
            <a:srgbClr val="A855F7">
              <a:alpha val="40000"/>
            </a:srgbClr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8379562" y="3807562"/>
            <a:ext cx="65837" cy="65837"/>
          </a:xfrm>
          <a:prstGeom prst="ellipse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438912" y="4279392"/>
            <a:ext cx="219456" cy="219456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93776" y="4334256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26694" y="4367174"/>
            <a:ext cx="43891" cy="43891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4937760" y="182880"/>
            <a:ext cx="182880" cy="182880"/>
          </a:xfrm>
          <a:prstGeom prst="ellipse">
            <a:avLst/>
          </a:prstGeom>
          <a:solidFill>
            <a:srgbClr val="00FFD0">
              <a:alpha val="14901"/>
            </a:srgbClr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4983480" y="228600"/>
            <a:ext cx="91440" cy="91440"/>
          </a:xfrm>
          <a:prstGeom prst="ellipse">
            <a:avLst/>
          </a:prstGeom>
          <a:solidFill>
            <a:srgbClr val="00FFD0">
              <a:alpha val="40000"/>
            </a:srgbClr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5010912" y="256032"/>
            <a:ext cx="36576" cy="36576"/>
          </a:xfrm>
          <a:prstGeom prst="ellipse">
            <a:avLst/>
          </a:prstGeom>
          <a:solidFill>
            <a:srgbClr val="00FFD0"/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2260397" y="4089197"/>
            <a:ext cx="51206" cy="51206"/>
          </a:xfrm>
          <a:prstGeom prst="ellipse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15"/>
          <p:cNvCxnSpPr/>
          <p:nvPr/>
        </p:nvCxnSpPr>
        <p:spPr>
          <a:xfrm>
            <a:off x="457200" y="1325880"/>
            <a:ext cx="2286000" cy="0"/>
          </a:xfrm>
          <a:prstGeom prst="straightConnector1">
            <a:avLst/>
          </a:prstGeom>
          <a:noFill/>
          <a:ln cap="flat" cmpd="sng" w="1270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15"/>
          <p:cNvCxnSpPr/>
          <p:nvPr/>
        </p:nvCxnSpPr>
        <p:spPr>
          <a:xfrm>
            <a:off x="457200" y="1417320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5"/>
          <p:cNvSpPr/>
          <p:nvPr/>
        </p:nvSpPr>
        <p:spPr>
          <a:xfrm>
            <a:off x="0" y="960120"/>
            <a:ext cx="91440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0"/>
              <a:buFont typeface="Arial Black"/>
              <a:buNone/>
            </a:pPr>
            <a:r>
              <a:rPr b="1" i="0" lang="en" sz="10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SIGNET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45720" y="987552"/>
            <a:ext cx="91440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800"/>
              <a:buFont typeface="Arial Black"/>
              <a:buNone/>
            </a:pPr>
            <a:r>
              <a:rPr b="1" i="0" lang="en" sz="108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SIGNET</a:t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914400" y="30632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1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Post-Quantum Cryptographic Identity Layer for AI Agents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2286000" y="3611880"/>
            <a:ext cx="4572000" cy="0"/>
          </a:xfrm>
          <a:prstGeom prst="straightConnector1">
            <a:avLst/>
          </a:prstGeom>
          <a:noFill/>
          <a:ln cap="flat" cmpd="sng" w="10150">
            <a:solidFill>
              <a:srgbClr val="00D4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5"/>
          <p:cNvSpPr/>
          <p:nvPr/>
        </p:nvSpPr>
        <p:spPr>
          <a:xfrm>
            <a:off x="1097280" y="3794760"/>
            <a:ext cx="1463040" cy="320040"/>
          </a:xfrm>
          <a:prstGeom prst="roundRect">
            <a:avLst>
              <a:gd fmla="val 17143" name="adj"/>
            </a:avLst>
          </a:prstGeom>
          <a:solidFill>
            <a:srgbClr val="0A1628">
              <a:alpha val="70196"/>
            </a:srgbClr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1143000" y="38130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DevSapiens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2834640" y="3794760"/>
            <a:ext cx="1463040" cy="320040"/>
          </a:xfrm>
          <a:prstGeom prst="roundRect">
            <a:avLst>
              <a:gd fmla="val 17143" name="adj"/>
            </a:avLst>
          </a:prstGeom>
          <a:solidFill>
            <a:srgbClr val="0A1628">
              <a:alpha val="70196"/>
            </a:srgbClr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2880360" y="38130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Security &amp; Privacy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4572000" y="3794760"/>
            <a:ext cx="1463040" cy="320040"/>
          </a:xfrm>
          <a:prstGeom prst="roundRect">
            <a:avLst>
              <a:gd fmla="val 17143" name="adj"/>
            </a:avLst>
          </a:prstGeom>
          <a:solidFill>
            <a:srgbClr val="0A1628">
              <a:alpha val="70196"/>
            </a:srgbClr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4617720" y="38130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PS #10 × #16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309360" y="3794760"/>
            <a:ext cx="1463040" cy="320040"/>
          </a:xfrm>
          <a:prstGeom prst="roundRect">
            <a:avLst>
              <a:gd fmla="val 17143" name="adj"/>
            </a:avLst>
          </a:prstGeom>
          <a:solidFill>
            <a:srgbClr val="0A1628">
              <a:alpha val="70196"/>
            </a:srgbClr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6355080" y="38130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SDG 9 + 16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E1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6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6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6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6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16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6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16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6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6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6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16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16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16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6"/>
          <p:cNvSpPr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02  ——  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AI Agent Identity Crisis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57200" y="1417320"/>
            <a:ext cx="3657600" cy="1005840"/>
          </a:xfrm>
          <a:prstGeom prst="rect">
            <a:avLst/>
          </a:prstGeom>
          <a:solidFill>
            <a:srgbClr val="0A1628">
              <a:alpha val="2196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457200" y="1417320"/>
            <a:ext cx="365760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94360" y="15087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400"/>
              <a:buFont typeface="Arial Black"/>
              <a:buNone/>
            </a:pPr>
            <a:r>
              <a:rPr b="1" i="0" lang="en" sz="4400" u="none" cap="none" strike="noStrike">
                <a:solidFill>
                  <a:srgbClr val="00D4FF"/>
                </a:solidFill>
                <a:latin typeface="Arial Black"/>
                <a:ea typeface="Arial Black"/>
                <a:cs typeface="Arial Black"/>
                <a:sym typeface="Arial Black"/>
              </a:rPr>
              <a:t>100M+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94360" y="207568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agents by 2030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57200" y="2578608"/>
            <a:ext cx="3657600" cy="1005840"/>
          </a:xfrm>
          <a:prstGeom prst="rect">
            <a:avLst/>
          </a:prstGeom>
          <a:solidFill>
            <a:srgbClr val="0A1628">
              <a:alpha val="2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457200" y="2578608"/>
            <a:ext cx="3657600" cy="27432"/>
          </a:xfrm>
          <a:prstGeom prst="rect">
            <a:avLst/>
          </a:prstGeom>
          <a:solidFill>
            <a:srgbClr val="EF4444">
              <a:alpha val="4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94360" y="267004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4400"/>
              <a:buFont typeface="Arial Black"/>
              <a:buNone/>
            </a:pPr>
            <a:r>
              <a:rPr b="1" i="0" lang="en" sz="44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94360" y="323697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Dedicated PQ identity layers for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57200" y="3739896"/>
            <a:ext cx="3657600" cy="1005840"/>
          </a:xfrm>
          <a:prstGeom prst="rect">
            <a:avLst/>
          </a:prstGeom>
          <a:solidFill>
            <a:srgbClr val="0A1628">
              <a:alpha val="21960"/>
            </a:srgbClr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457200" y="3739896"/>
            <a:ext cx="3657600" cy="27432"/>
          </a:xfrm>
          <a:prstGeom prst="rect">
            <a:avLst/>
          </a:prstGeom>
          <a:solidFill>
            <a:srgbClr val="FACC15">
              <a:alpha val="40000"/>
            </a:srgbClr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94360" y="3831336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4400"/>
              <a:buFont typeface="Arial Black"/>
              <a:buNone/>
            </a:pPr>
            <a:r>
              <a:rPr b="1" i="0" lang="en" sz="4400" u="none" cap="none" strike="noStrike">
                <a:solidFill>
                  <a:srgbClr val="FACC15"/>
                </a:solidFill>
                <a:latin typeface="Arial Black"/>
                <a:ea typeface="Arial Black"/>
                <a:cs typeface="Arial Black"/>
                <a:sym typeface="Arial Black"/>
              </a:rPr>
              <a:t>2027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94360" y="439826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India MeitY PQC deadline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389120" y="1417320"/>
            <a:ext cx="4434840" cy="3474720"/>
          </a:xfrm>
          <a:prstGeom prst="rect">
            <a:avLst/>
          </a:prstGeom>
          <a:solidFill>
            <a:srgbClr val="0A1628">
              <a:alpha val="18039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4389120" y="1417320"/>
            <a:ext cx="4434840" cy="27432"/>
          </a:xfrm>
          <a:prstGeom prst="rect">
            <a:avLst/>
          </a:prstGeom>
          <a:solidFill>
            <a:srgbClr val="EF4444">
              <a:alpha val="4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526280" y="1536192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HARVEST-NOW, DECRYPT-LATER THREAT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16"/>
          <p:cNvCxnSpPr/>
          <p:nvPr/>
        </p:nvCxnSpPr>
        <p:spPr>
          <a:xfrm>
            <a:off x="4937760" y="1874520"/>
            <a:ext cx="0" cy="2560320"/>
          </a:xfrm>
          <a:prstGeom prst="straightConnector1">
            <a:avLst/>
          </a:prstGeom>
          <a:noFill/>
          <a:ln cap="flat" cmpd="sng" w="190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6"/>
          <p:cNvSpPr/>
          <p:nvPr/>
        </p:nvSpPr>
        <p:spPr>
          <a:xfrm>
            <a:off x="4809744" y="1883664"/>
            <a:ext cx="256032" cy="256032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4873752" y="1947672"/>
            <a:ext cx="128016" cy="128016"/>
          </a:xfrm>
          <a:prstGeom prst="ellipse">
            <a:avLst/>
          </a:prstGeom>
          <a:solidFill>
            <a:srgbClr val="00D4FF">
              <a:alpha val="4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4912157" y="1986077"/>
            <a:ext cx="51206" cy="5120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074920" y="1901952"/>
            <a:ext cx="777240" cy="228600"/>
          </a:xfrm>
          <a:prstGeom prst="rect">
            <a:avLst/>
          </a:prstGeom>
          <a:solidFill>
            <a:srgbClr val="00D4FF">
              <a:alpha val="25098"/>
            </a:srgbClr>
          </a:solidFill>
          <a:ln cap="flat" cmpd="sng" w="95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093208" y="1911096"/>
            <a:ext cx="7589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943600" y="1901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agents sign actions with RSA/ECDSA/JWT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809744" y="2542032"/>
            <a:ext cx="256032" cy="256032"/>
          </a:xfrm>
          <a:prstGeom prst="ellipse">
            <a:avLst/>
          </a:prstGeom>
          <a:solidFill>
            <a:srgbClr val="FACC15">
              <a:alpha val="14901"/>
            </a:srgbClr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4873752" y="2606040"/>
            <a:ext cx="128016" cy="128016"/>
          </a:xfrm>
          <a:prstGeom prst="ellipse">
            <a:avLst/>
          </a:prstGeom>
          <a:solidFill>
            <a:srgbClr val="FACC15">
              <a:alpha val="40000"/>
            </a:srgbClr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4912157" y="2644445"/>
            <a:ext cx="51206" cy="51206"/>
          </a:xfrm>
          <a:prstGeom prst="ellipse">
            <a:avLst/>
          </a:prstGeom>
          <a:solidFill>
            <a:srgbClr val="FACC15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074920" y="2560320"/>
            <a:ext cx="777240" cy="228600"/>
          </a:xfrm>
          <a:prstGeom prst="rect">
            <a:avLst/>
          </a:prstGeom>
          <a:solidFill>
            <a:srgbClr val="FACC15">
              <a:alpha val="25098"/>
            </a:srgbClr>
          </a:solidFill>
          <a:ln cap="flat" cmpd="sng" w="9525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093208" y="2569464"/>
            <a:ext cx="7589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rPr>
              <a:t>2026–28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943600" y="25603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Nation-states harvest encrypted agent traffic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4809744" y="3200400"/>
            <a:ext cx="256032" cy="256032"/>
          </a:xfrm>
          <a:prstGeom prst="ellipse">
            <a:avLst/>
          </a:prstGeom>
          <a:solidFill>
            <a:srgbClr val="EF4444">
              <a:alpha val="14901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873752" y="3264408"/>
            <a:ext cx="128016" cy="128016"/>
          </a:xfrm>
          <a:prstGeom prst="ellipse">
            <a:avLst/>
          </a:prstGeom>
          <a:solidFill>
            <a:srgbClr val="EF4444">
              <a:alpha val="4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4912157" y="3302813"/>
            <a:ext cx="51206" cy="5120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074920" y="3218688"/>
            <a:ext cx="777240" cy="228600"/>
          </a:xfrm>
          <a:prstGeom prst="rect">
            <a:avLst/>
          </a:prstGeom>
          <a:solidFill>
            <a:srgbClr val="EF4444">
              <a:alpha val="25098"/>
            </a:srgbClr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093208" y="3227832"/>
            <a:ext cx="7589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2030+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943600" y="32186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CRQC online — all past signatures forged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4809744" y="3858768"/>
            <a:ext cx="256032" cy="256032"/>
          </a:xfrm>
          <a:prstGeom prst="ellipse">
            <a:avLst/>
          </a:prstGeom>
          <a:solidFill>
            <a:srgbClr val="EF4444">
              <a:alpha val="14901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4873752" y="3922776"/>
            <a:ext cx="128016" cy="128016"/>
          </a:xfrm>
          <a:prstGeom prst="ellipse">
            <a:avLst/>
          </a:prstGeom>
          <a:solidFill>
            <a:srgbClr val="EF4444">
              <a:alpha val="4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4912157" y="3961181"/>
            <a:ext cx="51206" cy="5120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5074920" y="3877056"/>
            <a:ext cx="777240" cy="228600"/>
          </a:xfrm>
          <a:prstGeom prst="rect">
            <a:avLst/>
          </a:prstGeom>
          <a:solidFill>
            <a:srgbClr val="EF4444">
              <a:alpha val="25098"/>
            </a:srgbClr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5093208" y="3886200"/>
            <a:ext cx="75895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5943600" y="38770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Healthcare, finance, legal agents: retroactively compromised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4480560" y="4572000"/>
            <a:ext cx="4206240" cy="347472"/>
          </a:xfrm>
          <a:prstGeom prst="rect">
            <a:avLst/>
          </a:prstGeom>
          <a:solidFill>
            <a:srgbClr val="EF4444">
              <a:alpha val="18039"/>
            </a:srgbClr>
          </a:solidFill>
          <a:ln cap="flat" cmpd="sng" w="101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4526280" y="45994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RSA  ·  ECDSA  ·  JWT  ·  OAuth 2.0  →  BROKEN BY SHOR'S ALGORITHM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57200" y="4617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NIST FIPS 203/204/205  ·  MeitY 2027  ·  EU CRA  ·  US CNSA 2.0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81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17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17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17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17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17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17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17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17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17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17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17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7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17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17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17"/>
          <p:cNvSpPr/>
          <p:nvPr/>
        </p:nvSpPr>
        <p:spPr>
          <a:xfrm>
            <a:off x="457200" y="1645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03  ——  THE SOLUTION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One Spine. Three Planes.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291840" y="1280160"/>
            <a:ext cx="2560320" cy="594360"/>
          </a:xfrm>
          <a:prstGeom prst="rect">
            <a:avLst/>
          </a:prstGeom>
          <a:solidFill>
            <a:srgbClr val="0A1628">
              <a:alpha val="30196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3291840" y="1280160"/>
            <a:ext cx="256032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1568" y="13533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/>
          <p:nvPr/>
        </p:nvSpPr>
        <p:spPr>
          <a:xfrm>
            <a:off x="3840480" y="13716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SDK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840480" y="15727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signet.wrap(agent)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7"/>
          <p:cNvCxnSpPr/>
          <p:nvPr/>
        </p:nvCxnSpPr>
        <p:spPr>
          <a:xfrm>
            <a:off x="4572000" y="187452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7"/>
          <p:cNvSpPr/>
          <p:nvPr/>
        </p:nvSpPr>
        <p:spPr>
          <a:xfrm>
            <a:off x="4480560" y="2103120"/>
            <a:ext cx="182880" cy="182880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4526280" y="2148840"/>
            <a:ext cx="91440" cy="91440"/>
          </a:xfrm>
          <a:prstGeom prst="ellipse">
            <a:avLst/>
          </a:prstGeom>
          <a:solidFill>
            <a:srgbClr val="00D4FF">
              <a:alpha val="4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4553712" y="2176272"/>
            <a:ext cx="36576" cy="36576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3291840" y="2194560"/>
            <a:ext cx="2560320" cy="658368"/>
          </a:xfrm>
          <a:prstGeom prst="rect">
            <a:avLst/>
          </a:prstGeom>
          <a:solidFill>
            <a:srgbClr val="0A1628">
              <a:alpha val="3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3291840" y="2194560"/>
            <a:ext cx="256032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1568" y="22677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/>
          <p:nvPr/>
        </p:nvSpPr>
        <p:spPr>
          <a:xfrm>
            <a:off x="3840480" y="22860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Signet Verifier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3840480" y="24871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Sig verify · Policy · Merkle 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7"/>
          <p:cNvCxnSpPr/>
          <p:nvPr/>
        </p:nvCxnSpPr>
        <p:spPr>
          <a:xfrm rot="10800000">
            <a:off x="2103120" y="2852928"/>
            <a:ext cx="1234440" cy="0"/>
          </a:xfrm>
          <a:prstGeom prst="straightConnector1">
            <a:avLst/>
          </a:prstGeom>
          <a:noFill/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17"/>
          <p:cNvCxnSpPr/>
          <p:nvPr/>
        </p:nvCxnSpPr>
        <p:spPr>
          <a:xfrm>
            <a:off x="2103120" y="2852928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17"/>
          <p:cNvCxnSpPr/>
          <p:nvPr/>
        </p:nvCxnSpPr>
        <p:spPr>
          <a:xfrm>
            <a:off x="5852160" y="2852928"/>
            <a:ext cx="1188720" cy="0"/>
          </a:xfrm>
          <a:prstGeom prst="straightConnector1">
            <a:avLst/>
          </a:prstGeom>
          <a:noFill/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17"/>
          <p:cNvCxnSpPr/>
          <p:nvPr/>
        </p:nvCxnSpPr>
        <p:spPr>
          <a:xfrm>
            <a:off x="7040880" y="2852928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17"/>
          <p:cNvCxnSpPr/>
          <p:nvPr/>
        </p:nvCxnSpPr>
        <p:spPr>
          <a:xfrm>
            <a:off x="4572000" y="2852928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7"/>
          <p:cNvSpPr/>
          <p:nvPr/>
        </p:nvSpPr>
        <p:spPr>
          <a:xfrm>
            <a:off x="4498848" y="2779776"/>
            <a:ext cx="146304" cy="146304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4535424" y="2816352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4557370" y="2838298"/>
            <a:ext cx="29261" cy="29261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256032" y="3154680"/>
            <a:ext cx="2011680" cy="1737360"/>
          </a:xfrm>
          <a:prstGeom prst="rect">
            <a:avLst/>
          </a:prstGeom>
          <a:solidFill>
            <a:srgbClr val="0A1628">
              <a:alpha val="70196"/>
            </a:srgbClr>
          </a:solidFill>
          <a:ln cap="flat" cmpd="sng" w="152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256032" y="3154680"/>
            <a:ext cx="2011680" cy="457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" y="32644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/>
          <p:nvPr/>
        </p:nvSpPr>
        <p:spPr>
          <a:xfrm>
            <a:off x="786384" y="32918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365760" y="37033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ML-DSA-44 signing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365760" y="39776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ML-KEM-768 KEM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365760" y="42519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Hybrid X25519+PQ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365760" y="45262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FIPS 203 / 204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2423160" y="3154680"/>
            <a:ext cx="2011680" cy="1737360"/>
          </a:xfrm>
          <a:prstGeom prst="rect">
            <a:avLst/>
          </a:prstGeom>
          <a:solidFill>
            <a:srgbClr val="0A1628">
              <a:alpha val="70196"/>
            </a:srgbClr>
          </a:solidFill>
          <a:ln cap="flat" cmpd="sng" w="15225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2423160" y="3154680"/>
            <a:ext cx="2011680" cy="4572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32888" y="32644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7"/>
          <p:cNvSpPr/>
          <p:nvPr/>
        </p:nvSpPr>
        <p:spPr>
          <a:xfrm>
            <a:off x="2953512" y="32918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BEHAVIOUR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2532888" y="37033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Quantum-kernel SVM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2532888" y="39776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6-qubit ZZ 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2532888" y="42519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Anomaly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2532888" y="45262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Cold-start edge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4590288" y="3154680"/>
            <a:ext cx="2011680" cy="1737360"/>
          </a:xfrm>
          <a:prstGeom prst="rect">
            <a:avLst/>
          </a:prstGeom>
          <a:solidFill>
            <a:srgbClr val="0A1628">
              <a:alpha val="70196"/>
            </a:srgbClr>
          </a:solidFill>
          <a:ln cap="flat" cmpd="sng" w="15225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4590288" y="3154680"/>
            <a:ext cx="2011680" cy="45720"/>
          </a:xfrm>
          <a:prstGeom prst="rect">
            <a:avLst/>
          </a:prstGeom>
          <a:solidFill>
            <a:srgbClr val="00FFD0"/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0016" y="32644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/>
          <p:nvPr/>
        </p:nvSpPr>
        <p:spPr>
          <a:xfrm>
            <a:off x="5120640" y="32918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D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FFD0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700016" y="37033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Tamper-evident 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700016" y="39776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Live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4700016" y="42519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Instant revocation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4700016" y="45262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Policy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6757416" y="3154680"/>
            <a:ext cx="2011680" cy="1737360"/>
          </a:xfrm>
          <a:prstGeom prst="rect">
            <a:avLst/>
          </a:prstGeom>
          <a:solidFill>
            <a:srgbClr val="0A1628">
              <a:alpha val="70196"/>
            </a:srgbClr>
          </a:solidFill>
          <a:ln cap="flat" cmpd="sng" w="15225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6757416" y="3154680"/>
            <a:ext cx="2011680" cy="45720"/>
          </a:xfrm>
          <a:prstGeom prst="rect">
            <a:avLst/>
          </a:prstGeom>
          <a:solidFill>
            <a:srgbClr val="FACC15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67144" y="32644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/>
          <p:nvPr/>
        </p:nvSpPr>
        <p:spPr>
          <a:xfrm>
            <a:off x="7287768" y="32918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6867144" y="37033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ESP32-C3 device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6867144" y="39776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On-device signing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6867144" y="42519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287ms handshake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6867144" y="45262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38 KB RAM peak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E1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8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18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18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18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18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18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18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18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18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1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18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8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8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18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8"/>
          <p:cNvSpPr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04  ——  TECH STACK &amp; HARDWARE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Tech Stack &amp; Hardware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228600" y="1325880"/>
            <a:ext cx="1627632" cy="347472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228600" y="1325880"/>
            <a:ext cx="1627632" cy="457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" y="14447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8"/>
          <p:cNvSpPr/>
          <p:nvPr/>
        </p:nvSpPr>
        <p:spPr>
          <a:xfrm>
            <a:off x="301752" y="1856232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Post-Quantum Crypto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8"/>
          <p:cNvCxnSpPr/>
          <p:nvPr/>
        </p:nvCxnSpPr>
        <p:spPr>
          <a:xfrm>
            <a:off x="338328" y="2286000"/>
            <a:ext cx="1417320" cy="0"/>
          </a:xfrm>
          <a:prstGeom prst="straightConnector1">
            <a:avLst/>
          </a:prstGeom>
          <a:noFill/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8"/>
          <p:cNvSpPr/>
          <p:nvPr/>
        </p:nvSpPr>
        <p:spPr>
          <a:xfrm>
            <a:off x="338328" y="239572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374904" y="244144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ML-DSA-44  (FIPS 204)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338328" y="299008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374904" y="303580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ML-KEM-768  (FIPS 203)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338328" y="358444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374904" y="363016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SLH-DSA  (FIPS 205)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338328" y="417880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374904" y="422452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liboqs · pqm4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1965960" y="1325880"/>
            <a:ext cx="1627632" cy="347472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1965960" y="1325880"/>
            <a:ext cx="1627632" cy="45720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5688" y="14447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8"/>
          <p:cNvSpPr/>
          <p:nvPr/>
        </p:nvSpPr>
        <p:spPr>
          <a:xfrm>
            <a:off x="2039112" y="1856232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Quantum 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18"/>
          <p:cNvCxnSpPr/>
          <p:nvPr/>
        </p:nvCxnSpPr>
        <p:spPr>
          <a:xfrm>
            <a:off x="2075688" y="2286000"/>
            <a:ext cx="1417320" cy="0"/>
          </a:xfrm>
          <a:prstGeom prst="straightConnector1">
            <a:avLst/>
          </a:prstGeom>
          <a:noFill/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8"/>
          <p:cNvSpPr/>
          <p:nvPr/>
        </p:nvSpPr>
        <p:spPr>
          <a:xfrm>
            <a:off x="2075688" y="239572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2112264" y="244144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PennyLane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2075688" y="299008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2112264" y="303580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6-qubit Kernel SVM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2075688" y="358444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2112264" y="363016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ZZ Feature 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2075688" y="417880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2112264" y="422452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scikit-learn hybrid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3703320" y="1325880"/>
            <a:ext cx="1627632" cy="347472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8"/>
          <p:cNvSpPr/>
          <p:nvPr/>
        </p:nvSpPr>
        <p:spPr>
          <a:xfrm>
            <a:off x="3703320" y="1325880"/>
            <a:ext cx="1627632" cy="457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3048" y="14447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8"/>
          <p:cNvSpPr/>
          <p:nvPr/>
        </p:nvSpPr>
        <p:spPr>
          <a:xfrm>
            <a:off x="3776472" y="1856232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8"/>
          <p:cNvCxnSpPr/>
          <p:nvPr/>
        </p:nvCxnSpPr>
        <p:spPr>
          <a:xfrm>
            <a:off x="3813048" y="2286000"/>
            <a:ext cx="1417320" cy="0"/>
          </a:xfrm>
          <a:prstGeom prst="straightConnector1">
            <a:avLst/>
          </a:prstGeom>
          <a:noFill/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8"/>
          <p:cNvSpPr/>
          <p:nvPr/>
        </p:nvSpPr>
        <p:spPr>
          <a:xfrm>
            <a:off x="3813048" y="239572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"/>
          <p:cNvSpPr/>
          <p:nvPr/>
        </p:nvSpPr>
        <p:spPr>
          <a:xfrm>
            <a:off x="3849624" y="244144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+ SQLite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3813048" y="299008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3849624" y="303580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WebSockets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3813048" y="358444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"/>
          <p:cNvSpPr/>
          <p:nvPr/>
        </p:nvSpPr>
        <p:spPr>
          <a:xfrm>
            <a:off x="3849624" y="363016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Next.js + Tailwind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3813048" y="417880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"/>
          <p:cNvSpPr/>
          <p:nvPr/>
        </p:nvSpPr>
        <p:spPr>
          <a:xfrm>
            <a:off x="3849624" y="422452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5440680" y="1325880"/>
            <a:ext cx="1627632" cy="347472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5440680" y="1325880"/>
            <a:ext cx="1627632" cy="45720"/>
          </a:xfrm>
          <a:prstGeom prst="rect">
            <a:avLst/>
          </a:prstGeom>
          <a:solidFill>
            <a:srgbClr val="FACC15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50408" y="14447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8"/>
          <p:cNvSpPr/>
          <p:nvPr/>
        </p:nvSpPr>
        <p:spPr>
          <a:xfrm>
            <a:off x="5513832" y="1856232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ACC15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8"/>
          <p:cNvCxnSpPr/>
          <p:nvPr/>
        </p:nvCxnSpPr>
        <p:spPr>
          <a:xfrm>
            <a:off x="5550408" y="2286000"/>
            <a:ext cx="1417320" cy="0"/>
          </a:xfrm>
          <a:prstGeom prst="straightConnector1">
            <a:avLst/>
          </a:prstGeom>
          <a:noFill/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8"/>
          <p:cNvSpPr/>
          <p:nvPr/>
        </p:nvSpPr>
        <p:spPr>
          <a:xfrm>
            <a:off x="5550408" y="239572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"/>
          <p:cNvSpPr/>
          <p:nvPr/>
        </p:nvSpPr>
        <p:spPr>
          <a:xfrm>
            <a:off x="5586984" y="244144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ESP32-S3 / C3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5550408" y="299008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5586984" y="303580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TRWS2014B Mic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5550408" y="358444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5586984" y="363016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RISC-V on-device PQC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5550408" y="417880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8"/>
          <p:cNvSpPr/>
          <p:nvPr/>
        </p:nvSpPr>
        <p:spPr>
          <a:xfrm>
            <a:off x="5586984" y="422452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pqm4-rv32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7178040" y="1325880"/>
            <a:ext cx="1627632" cy="347472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8"/>
          <p:cNvSpPr/>
          <p:nvPr/>
        </p:nvSpPr>
        <p:spPr>
          <a:xfrm>
            <a:off x="7178040" y="1325880"/>
            <a:ext cx="1627632" cy="45720"/>
          </a:xfrm>
          <a:prstGeom prst="rect">
            <a:avLst/>
          </a:prstGeom>
          <a:solidFill>
            <a:srgbClr val="00FFD0"/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7768" y="14447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8"/>
          <p:cNvSpPr/>
          <p:nvPr/>
        </p:nvSpPr>
        <p:spPr>
          <a:xfrm>
            <a:off x="7251192" y="1856232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D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FFD0"/>
                </a:solidFill>
                <a:latin typeface="Calibri"/>
                <a:ea typeface="Calibri"/>
                <a:cs typeface="Calibri"/>
                <a:sym typeface="Calibri"/>
              </a:rPr>
              <a:t>APIs &amp; Integrations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8"/>
          <p:cNvCxnSpPr/>
          <p:nvPr/>
        </p:nvCxnSpPr>
        <p:spPr>
          <a:xfrm>
            <a:off x="7287768" y="2286000"/>
            <a:ext cx="1417320" cy="0"/>
          </a:xfrm>
          <a:prstGeom prst="straightConnector1">
            <a:avLst/>
          </a:prstGeom>
          <a:noFill/>
          <a:ln cap="flat" cmpd="sng" w="101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8"/>
          <p:cNvSpPr/>
          <p:nvPr/>
        </p:nvSpPr>
        <p:spPr>
          <a:xfrm>
            <a:off x="7287768" y="239572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7324344" y="244144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 · Gemini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7287768" y="299008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7324344" y="303580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ElevenLabs TTS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7287768" y="358444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7324344" y="363016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Protocol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7287768" y="4178808"/>
            <a:ext cx="1417320" cy="457200"/>
          </a:xfrm>
          <a:prstGeom prst="rect">
            <a:avLst/>
          </a:prstGeom>
          <a:solidFill>
            <a:srgbClr val="0D1F3C">
              <a:alpha val="6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7324344" y="4224528"/>
            <a:ext cx="1344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A2A Networks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810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Google Shape;336;p19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9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19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19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19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19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9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9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19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19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" name="Google Shape;346;p19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19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19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19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9"/>
          <p:cNvSpPr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05  ——  UNIQUE SELLING 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Signet Stands Out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457200" y="1234440"/>
            <a:ext cx="8321040" cy="640080"/>
          </a:xfrm>
          <a:prstGeom prst="rect">
            <a:avLst/>
          </a:prstGeom>
          <a:solidFill>
            <a:srgbClr val="00D4FF">
              <a:alpha val="18039"/>
            </a:srgbClr>
          </a:solidFill>
          <a:ln cap="flat" cmpd="sng" w="152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594360" y="129844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team with a physical post-quantum signing device + Quantum ML anomaly detection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411480" y="2029968"/>
            <a:ext cx="2633472" cy="123444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015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9"/>
          <p:cNvSpPr/>
          <p:nvPr/>
        </p:nvSpPr>
        <p:spPr>
          <a:xfrm>
            <a:off x="411480" y="2029968"/>
            <a:ext cx="2633472" cy="36576"/>
          </a:xfrm>
          <a:prstGeom prst="rect">
            <a:avLst/>
          </a:prstGeom>
          <a:solidFill>
            <a:srgbClr val="FACC15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21214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9"/>
          <p:cNvSpPr/>
          <p:nvPr/>
        </p:nvSpPr>
        <p:spPr>
          <a:xfrm>
            <a:off x="905256" y="2121408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PQ Signing Device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521208" y="2487168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ESP32-C3 running ML-DSA-44 on-device. First RISC-V PQC reference implementation.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3200400" y="2029968"/>
            <a:ext cx="2633472" cy="123444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01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9"/>
          <p:cNvSpPr/>
          <p:nvPr/>
        </p:nvSpPr>
        <p:spPr>
          <a:xfrm>
            <a:off x="3200400" y="2029968"/>
            <a:ext cx="2633472" cy="36576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21214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9"/>
          <p:cNvSpPr/>
          <p:nvPr/>
        </p:nvSpPr>
        <p:spPr>
          <a:xfrm>
            <a:off x="3694176" y="2121408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Quantum ML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3310128" y="2487168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6-qubit quantum-kernel SVM detects rogue agents in cold-start regimes.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5989320" y="2029968"/>
            <a:ext cx="2633472" cy="123444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5989320" y="2029968"/>
            <a:ext cx="2633472" cy="36576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9048" y="21214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9"/>
          <p:cNvSpPr/>
          <p:nvPr/>
        </p:nvSpPr>
        <p:spPr>
          <a:xfrm>
            <a:off x="6483096" y="2121408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Cross-language SDK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6099048" y="2487168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· TypeScript · Go · Rust. One identity layer, every agent framework.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411480" y="3419856"/>
            <a:ext cx="2633472" cy="123444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411480" y="3419856"/>
            <a:ext cx="2633472" cy="36576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208" y="35112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9"/>
          <p:cNvSpPr/>
          <p:nvPr/>
        </p:nvSpPr>
        <p:spPr>
          <a:xfrm>
            <a:off x="905256" y="3511296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/ A2A Native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521208" y="3877056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Built for the Anthropic MCP and Google A2A agent ecosystems from day 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3200400" y="3419856"/>
            <a:ext cx="2633472" cy="123444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015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3200400" y="3419856"/>
            <a:ext cx="2633472" cy="36576"/>
          </a:xfrm>
          <a:prstGeom prst="rect">
            <a:avLst/>
          </a:prstGeom>
          <a:solidFill>
            <a:srgbClr val="00FFD0"/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6" name="Google Shape;3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10128" y="35112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9"/>
          <p:cNvSpPr/>
          <p:nvPr/>
        </p:nvSpPr>
        <p:spPr>
          <a:xfrm>
            <a:off x="3694176" y="3511296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+ MeitY Aligned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3310128" y="3877056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FIPS 203/204/205 compliant. India 2027 mandate ready. EU CRA aligned.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5989320" y="3419856"/>
            <a:ext cx="2633472" cy="1234440"/>
          </a:xfrm>
          <a:prstGeom prst="rect">
            <a:avLst/>
          </a:prstGeom>
          <a:solidFill>
            <a:srgbClr val="0A1628">
              <a:alpha val="74901"/>
            </a:srgbClr>
          </a:solidFill>
          <a:ln cap="flat" cmpd="sng" w="1015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5989320" y="3419856"/>
            <a:ext cx="2633472" cy="36576"/>
          </a:xfrm>
          <a:prstGeom prst="rect">
            <a:avLst/>
          </a:prstGeom>
          <a:solidFill>
            <a:srgbClr val="00FFD0"/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1" name="Google Shape;38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99048" y="35112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9"/>
          <p:cNvSpPr/>
          <p:nvPr/>
        </p:nvSpPr>
        <p:spPr>
          <a:xfrm>
            <a:off x="6483096" y="3511296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Open-Source + RFC-Track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6099048" y="3877056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Apache 2.0. IETF Internet-Draft in progress. "Auth0 for AI agents."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E1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0" name="Google Shape;390;p20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20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20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20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20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20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20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20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20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20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20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20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20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20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D4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20"/>
          <p:cNvSpPr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06  ——  FEASIBILITY &amp; 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Built Today. Scaling Tomorrow.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6" name="Google Shape;406;p20"/>
          <p:cNvCxnSpPr/>
          <p:nvPr/>
        </p:nvCxnSpPr>
        <p:spPr>
          <a:xfrm>
            <a:off x="457200" y="1783080"/>
            <a:ext cx="8321040" cy="0"/>
          </a:xfrm>
          <a:prstGeom prst="straightConnector1">
            <a:avLst/>
          </a:prstGeom>
          <a:noFill/>
          <a:ln cap="flat" cmpd="sng" w="254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0"/>
          <p:cNvSpPr/>
          <p:nvPr/>
        </p:nvSpPr>
        <p:spPr>
          <a:xfrm>
            <a:off x="1060704" y="1563624"/>
            <a:ext cx="438912" cy="438912"/>
          </a:xfrm>
          <a:prstGeom prst="ellipse">
            <a:avLst/>
          </a:prstGeom>
          <a:solidFill>
            <a:srgbClr val="22C55E">
              <a:alpha val="14901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1170432" y="1673352"/>
            <a:ext cx="219456" cy="219456"/>
          </a:xfrm>
          <a:prstGeom prst="ellipse">
            <a:avLst/>
          </a:prstGeom>
          <a:solidFill>
            <a:srgbClr val="22C55E">
              <a:alpha val="40000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"/>
          <p:cNvSpPr/>
          <p:nvPr/>
        </p:nvSpPr>
        <p:spPr>
          <a:xfrm>
            <a:off x="1236269" y="1739189"/>
            <a:ext cx="87782" cy="8778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0" name="Google Shape;410;p20"/>
          <p:cNvCxnSpPr/>
          <p:nvPr/>
        </p:nvCxnSpPr>
        <p:spPr>
          <a:xfrm>
            <a:off x="1280160" y="17830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20"/>
          <p:cNvSpPr/>
          <p:nvPr/>
        </p:nvSpPr>
        <p:spPr>
          <a:xfrm>
            <a:off x="274320" y="2103120"/>
            <a:ext cx="2057400" cy="2423160"/>
          </a:xfrm>
          <a:prstGeom prst="rect">
            <a:avLst/>
          </a:prstGeom>
          <a:solidFill>
            <a:srgbClr val="0A1628">
              <a:alpha val="90196"/>
            </a:srgbClr>
          </a:solidFill>
          <a:ln cap="flat" cmpd="sng" w="228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274320" y="2103120"/>
            <a:ext cx="2057400" cy="5486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365760" y="219456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365760" y="2432304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10 HOURS - NOW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20"/>
          <p:cNvCxnSpPr/>
          <p:nvPr/>
        </p:nvCxnSpPr>
        <p:spPr>
          <a:xfrm>
            <a:off x="365760" y="2697480"/>
            <a:ext cx="18745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20"/>
          <p:cNvSpPr/>
          <p:nvPr/>
        </p:nvSpPr>
        <p:spPr>
          <a:xfrm>
            <a:off x="384048" y="2788920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Working SDK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384048" y="313639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Live verifier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384048" y="348386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Quantum anomaly SVM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384048" y="3831336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384048" y="4178808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ESP32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3401568" y="1636776"/>
            <a:ext cx="292608" cy="292608"/>
          </a:xfrm>
          <a:prstGeom prst="ellipse">
            <a:avLst/>
          </a:prstGeom>
          <a:solidFill>
            <a:srgbClr val="00D4FF">
              <a:alpha val="14901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3474720" y="1709928"/>
            <a:ext cx="146304" cy="146304"/>
          </a:xfrm>
          <a:prstGeom prst="ellipse">
            <a:avLst/>
          </a:prstGeom>
          <a:solidFill>
            <a:srgbClr val="00D4FF">
              <a:alpha val="40000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3518611" y="1753819"/>
            <a:ext cx="58522" cy="58522"/>
          </a:xfrm>
          <a:prstGeom prst="ellipse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4" name="Google Shape;424;p20"/>
          <p:cNvCxnSpPr/>
          <p:nvPr/>
        </p:nvCxnSpPr>
        <p:spPr>
          <a:xfrm>
            <a:off x="3547872" y="17830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00D4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5" name="Google Shape;425;p20"/>
          <p:cNvSpPr/>
          <p:nvPr/>
        </p:nvSpPr>
        <p:spPr>
          <a:xfrm>
            <a:off x="2542032" y="2103120"/>
            <a:ext cx="2057400" cy="2423160"/>
          </a:xfrm>
          <a:prstGeom prst="rect">
            <a:avLst/>
          </a:prstGeom>
          <a:solidFill>
            <a:srgbClr val="0A1628">
              <a:alpha val="70196"/>
            </a:srgbClr>
          </a:solidFill>
          <a:ln cap="flat" cmpd="sng" w="101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2542032" y="2103120"/>
            <a:ext cx="20574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"/>
          <p:cNvSpPr/>
          <p:nvPr/>
        </p:nvSpPr>
        <p:spPr>
          <a:xfrm>
            <a:off x="2633472" y="219456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2633472" y="2432304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MONTH 1-2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20"/>
          <p:cNvCxnSpPr/>
          <p:nvPr/>
        </p:nvCxnSpPr>
        <p:spPr>
          <a:xfrm>
            <a:off x="2633472" y="2697480"/>
            <a:ext cx="18745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20"/>
          <p:cNvSpPr/>
          <p:nvPr/>
        </p:nvSpPr>
        <p:spPr>
          <a:xfrm>
            <a:off x="2651760" y="2788920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PyPI release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2651760" y="313639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MCP / A2A integrations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2651760" y="348386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Multi-language SDKs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2651760" y="3831336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Enterprise infra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5660136" y="1636776"/>
            <a:ext cx="292608" cy="292608"/>
          </a:xfrm>
          <a:prstGeom prst="ellipse">
            <a:avLst/>
          </a:prstGeom>
          <a:solidFill>
            <a:srgbClr val="A855F7">
              <a:alpha val="14901"/>
            </a:srgbClr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0"/>
          <p:cNvSpPr/>
          <p:nvPr/>
        </p:nvSpPr>
        <p:spPr>
          <a:xfrm>
            <a:off x="5733288" y="1709928"/>
            <a:ext cx="146304" cy="146304"/>
          </a:xfrm>
          <a:prstGeom prst="ellipse">
            <a:avLst/>
          </a:prstGeom>
          <a:solidFill>
            <a:srgbClr val="A855F7">
              <a:alpha val="40000"/>
            </a:srgbClr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0"/>
          <p:cNvSpPr/>
          <p:nvPr/>
        </p:nvSpPr>
        <p:spPr>
          <a:xfrm>
            <a:off x="5777179" y="1753819"/>
            <a:ext cx="58522" cy="58522"/>
          </a:xfrm>
          <a:prstGeom prst="ellipse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7" name="Google Shape;437;p20"/>
          <p:cNvCxnSpPr/>
          <p:nvPr/>
        </p:nvCxnSpPr>
        <p:spPr>
          <a:xfrm>
            <a:off x="5806440" y="17830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A855F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38" name="Google Shape;438;p20"/>
          <p:cNvSpPr/>
          <p:nvPr/>
        </p:nvSpPr>
        <p:spPr>
          <a:xfrm>
            <a:off x="4800600" y="2103120"/>
            <a:ext cx="2057400" cy="2423160"/>
          </a:xfrm>
          <a:prstGeom prst="rect">
            <a:avLst/>
          </a:prstGeom>
          <a:solidFill>
            <a:srgbClr val="0A1628">
              <a:alpha val="70196"/>
            </a:srgbClr>
          </a:solidFill>
          <a:ln cap="flat" cmpd="sng" w="101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"/>
          <p:cNvSpPr/>
          <p:nvPr/>
        </p:nvSpPr>
        <p:spPr>
          <a:xfrm>
            <a:off x="4800600" y="2103120"/>
            <a:ext cx="2057400" cy="54864"/>
          </a:xfrm>
          <a:prstGeom prst="rect">
            <a:avLst/>
          </a:prstGeom>
          <a:solidFill>
            <a:srgbClr val="A855F7"/>
          </a:solidFill>
          <a:ln cap="flat" cmpd="sng" w="127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0"/>
          <p:cNvSpPr/>
          <p:nvPr/>
        </p:nvSpPr>
        <p:spPr>
          <a:xfrm>
            <a:off x="4892040" y="219456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0"/>
          <p:cNvSpPr/>
          <p:nvPr/>
        </p:nvSpPr>
        <p:spPr>
          <a:xfrm>
            <a:off x="4892040" y="2432304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MONTH 3-4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20"/>
          <p:cNvCxnSpPr/>
          <p:nvPr/>
        </p:nvCxnSpPr>
        <p:spPr>
          <a:xfrm>
            <a:off x="4892040" y="2697480"/>
            <a:ext cx="18745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20"/>
          <p:cNvSpPr/>
          <p:nvPr/>
        </p:nvSpPr>
        <p:spPr>
          <a:xfrm>
            <a:off x="4910328" y="2788920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HSM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4910328" y="313639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Multi-tenancy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4910328" y="348386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SOC 2 readiness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4910328" y="3831336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IETF RFC draft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7827264" y="1636776"/>
            <a:ext cx="292608" cy="292608"/>
          </a:xfrm>
          <a:prstGeom prst="ellipse">
            <a:avLst/>
          </a:prstGeom>
          <a:solidFill>
            <a:srgbClr val="00FFD0">
              <a:alpha val="14901"/>
            </a:srgbClr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0"/>
          <p:cNvSpPr/>
          <p:nvPr/>
        </p:nvSpPr>
        <p:spPr>
          <a:xfrm>
            <a:off x="7900416" y="1709928"/>
            <a:ext cx="146304" cy="146304"/>
          </a:xfrm>
          <a:prstGeom prst="ellipse">
            <a:avLst/>
          </a:prstGeom>
          <a:solidFill>
            <a:srgbClr val="00FFD0">
              <a:alpha val="40000"/>
            </a:srgbClr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0"/>
          <p:cNvSpPr/>
          <p:nvPr/>
        </p:nvSpPr>
        <p:spPr>
          <a:xfrm>
            <a:off x="7944307" y="1753819"/>
            <a:ext cx="58522" cy="58522"/>
          </a:xfrm>
          <a:prstGeom prst="ellipse">
            <a:avLst/>
          </a:prstGeom>
          <a:solidFill>
            <a:srgbClr val="00FFD0"/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0" name="Google Shape;450;p20"/>
          <p:cNvCxnSpPr/>
          <p:nvPr/>
        </p:nvCxnSpPr>
        <p:spPr>
          <a:xfrm>
            <a:off x="7973568" y="1783080"/>
            <a:ext cx="0" cy="320040"/>
          </a:xfrm>
          <a:prstGeom prst="straightConnector1">
            <a:avLst/>
          </a:prstGeom>
          <a:noFill/>
          <a:ln cap="flat" cmpd="sng" w="15225">
            <a:solidFill>
              <a:srgbClr val="00FFD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51" name="Google Shape;451;p20"/>
          <p:cNvSpPr/>
          <p:nvPr/>
        </p:nvSpPr>
        <p:spPr>
          <a:xfrm>
            <a:off x="6967728" y="2103120"/>
            <a:ext cx="2057400" cy="2423160"/>
          </a:xfrm>
          <a:prstGeom prst="rect">
            <a:avLst/>
          </a:prstGeom>
          <a:solidFill>
            <a:srgbClr val="0A1628">
              <a:alpha val="70196"/>
            </a:srgbClr>
          </a:solidFill>
          <a:ln cap="flat" cmpd="sng" w="1015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0"/>
          <p:cNvSpPr/>
          <p:nvPr/>
        </p:nvSpPr>
        <p:spPr>
          <a:xfrm>
            <a:off x="6967728" y="2103120"/>
            <a:ext cx="2057400" cy="54864"/>
          </a:xfrm>
          <a:prstGeom prst="rect">
            <a:avLst/>
          </a:prstGeom>
          <a:solidFill>
            <a:srgbClr val="00FFD0"/>
          </a:solidFill>
          <a:ln cap="flat" cmpd="sng" w="12700">
            <a:solidFill>
              <a:srgbClr val="00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7059168" y="2194560"/>
            <a:ext cx="1874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D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FFD0"/>
                </a:solidFill>
                <a:latin typeface="Calibri"/>
                <a:ea typeface="Calibri"/>
                <a:cs typeface="Calibri"/>
                <a:sym typeface="Calibri"/>
              </a:rPr>
              <a:t>LONG TERM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7059168" y="2432304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 MONTHS+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0"/>
          <p:cNvCxnSpPr/>
          <p:nvPr/>
        </p:nvCxnSpPr>
        <p:spPr>
          <a:xfrm>
            <a:off x="7059168" y="2697480"/>
            <a:ext cx="18745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20"/>
          <p:cNvSpPr/>
          <p:nvPr/>
        </p:nvSpPr>
        <p:spPr>
          <a:xfrm>
            <a:off x="7077456" y="2788920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USENIX paper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7077456" y="3136392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Open-source ecosystem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7077456" y="3483864"/>
            <a:ext cx="1856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· YC W27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914400" y="4645152"/>
            <a:ext cx="7406640" cy="347472"/>
          </a:xfrm>
          <a:prstGeom prst="rect">
            <a:avLst/>
          </a:prstGeom>
          <a:solidFill>
            <a:srgbClr val="0A1628">
              <a:alpha val="70196"/>
            </a:srgbClr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0"/>
          <p:cNvSpPr/>
          <p:nvPr/>
        </p:nvSpPr>
        <p:spPr>
          <a:xfrm>
            <a:off x="1005840" y="4663440"/>
            <a:ext cx="7223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1" i="1" lang="en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"Building the trust layer for the AI-agent economy."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8503920" y="45262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